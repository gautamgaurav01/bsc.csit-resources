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41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F5D460-A6F4-7BE9-7C5A-BC42086A44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03CB04-60C1-F985-40D4-7A4A4F6916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1F0EC-E811-9D28-2D3D-976323EA69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BC7605-54C5-0BA4-26ED-0EF70F958DC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1A973E-80A0-42B7-8E07-BCC324D2A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360478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ED9F85-4948-40EC-8988-DD8CF4F06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05104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3A67F-94A9-F4C9-3EB7-499331845F6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127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D36CA-F659-7F39-D3E0-BC2ADAE6C5C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9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A55FD48-62A3-B722-F853-E423FE68DAD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622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3044E-E678-811A-815A-BA50DC341B0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10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7CD94-AF46-3D0D-1CEA-43CA7C78E6E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1785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44C6D-E595-4BA6-8EA6-3F0879242F0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D71BFC-01DC-E7CD-B01C-507131FAB86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92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FB4A8-0D01-240A-3A53-E2B2258D8DC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849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D263AA-BF91-4BC4-B5AA-A4AF87B8246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55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20E3F-1135-44EF-8D66-C045E12129C0}" type="datetime1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525B025-69BB-4DA3-BDAB-49CBD0A4708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795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79C18-6474-414A-B6CE-AC1638166EE8}" type="datetime1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5B025-69BB-4DA3-BDAB-49CBD0A47087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721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C4B47-0C82-4587-8D60-AAF5378ECB44}" type="datetime1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5B025-69BB-4DA3-BDAB-49CBD0A4708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985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94084-8929-4338-BA59-9FDA5E61AF1F}" type="datetime1">
              <a:rPr lang="en-US" smtClean="0"/>
              <a:t>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5B025-69BB-4DA3-BDAB-49CBD0A47087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1407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DD2FA-09BE-4760-8E80-14F8E5916FD6}" type="datetime1">
              <a:rPr lang="en-US" smtClean="0"/>
              <a:t>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5B025-69BB-4DA3-BDAB-49CBD0A47087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638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6C02F-FF11-43FD-84C0-C3A277EEC0F0}" type="datetime1">
              <a:rPr lang="en-US" smtClean="0"/>
              <a:t>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5B025-69BB-4DA3-BDAB-49CBD0A47087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495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87F3C-9FF7-4F60-8071-B5DF091AA0B5}" type="datetime1">
              <a:rPr lang="en-US" smtClean="0"/>
              <a:t>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5B025-69BB-4DA3-BDAB-49CBD0A47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759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70DE0-D085-435D-8734-70210D8F6AA7}" type="datetime1">
              <a:rPr lang="en-US" smtClean="0"/>
              <a:t>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5B025-69BB-4DA3-BDAB-49CBD0A47087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704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BC3DAAA-F973-44E4-860A-E601B3EE5390}" type="datetime1">
              <a:rPr lang="en-US" smtClean="0"/>
              <a:t>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5B025-69BB-4DA3-BDAB-49CBD0A47087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213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6177-F14B-4C5C-A8D4-0E63A4A1CA79}" type="datetime1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5B025-69BB-4DA3-BDAB-49CBD0A47087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3718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190C2-9FE6-49C4-84D1-177E47F5B7BF}" type="datetime1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5B025-69BB-4DA3-BDAB-49CBD0A4708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71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E3008-9D6F-4501-8AF4-EBFBB426CDA0}" type="datetime1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525B025-69BB-4DA3-BDAB-49CBD0A4708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659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1020D-3561-00E5-F559-BFEEBC3B91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4362" y="953299"/>
            <a:ext cx="9293252" cy="2541431"/>
          </a:xfrm>
        </p:spPr>
        <p:txBody>
          <a:bodyPr>
            <a:normAutofit/>
          </a:bodyPr>
          <a:lstStyle/>
          <a:p>
            <a:r>
              <a:rPr lang="en-US" sz="4800" dirty="0"/>
              <a:t>introduction to computer and it's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C242D0-4222-C48E-36FA-04E624D68D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79" y="3573149"/>
            <a:ext cx="8637072" cy="977621"/>
          </a:xfrm>
        </p:spPr>
        <p:txBody>
          <a:bodyPr/>
          <a:lstStyle/>
          <a:p>
            <a:r>
              <a:rPr lang="en-US" dirty="0"/>
              <a:t>By Gaurav Gautam</a:t>
            </a:r>
          </a:p>
        </p:txBody>
      </p:sp>
    </p:spTree>
    <p:extLst>
      <p:ext uri="{BB962C8B-B14F-4D97-AF65-F5344CB8AC3E}">
        <p14:creationId xmlns:p14="http://schemas.microsoft.com/office/powerpoint/2010/main" val="2531092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66E10-B1F0-6CC9-F11A-9C11901E2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Inter"/>
              </a:rPr>
              <a:t>Introduction to Computers</a:t>
            </a:r>
            <a:br>
              <a:rPr lang="en-US" b="1" i="0" dirty="0">
                <a:solidFill>
                  <a:srgbClr val="F8FAFF"/>
                </a:solidFill>
                <a:effectLst/>
                <a:latin typeface="Inter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99070-1D34-8F19-34B3-12197082F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Inter"/>
              </a:rPr>
              <a:t>A computer is an electronic device that processes data and performs tasks according to a set of instructions called programs. It is composed of hardware (physical components) and software (programs and applications).</a:t>
            </a:r>
          </a:p>
          <a:p>
            <a:r>
              <a:rPr lang="en-US" b="0" i="0" dirty="0">
                <a:effectLst/>
                <a:latin typeface="Inter"/>
              </a:rPr>
              <a:t>It is a versatile tool that has become an integral part of our daily lives, helping us solve problems, communicate, and automate tasks.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74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C7D90-0F8F-E519-27F2-1729795F1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Inter"/>
              </a:rPr>
              <a:t>Characteristics of Computers:</a:t>
            </a:r>
            <a:br>
              <a:rPr lang="en-US" b="1" i="0" dirty="0">
                <a:solidFill>
                  <a:srgbClr val="F8FAFF"/>
                </a:solidFill>
                <a:effectLst/>
                <a:latin typeface="Inter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76B83-7180-5DCD-D134-DBBE52B4E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Speed:</a:t>
            </a:r>
            <a:r>
              <a:rPr lang="en-US" b="0" i="0" dirty="0">
                <a:effectLst/>
                <a:latin typeface="Inter"/>
              </a:rPr>
              <a:t> Computers can perform millions of calculations per second, measured in Hertz (Hz).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Accuracy:</a:t>
            </a:r>
            <a:r>
              <a:rPr lang="en-US" b="0" i="0" dirty="0">
                <a:effectLst/>
                <a:latin typeface="Inter"/>
              </a:rPr>
              <a:t> They provide precise results, provided the input and instructions are correct.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Storage:</a:t>
            </a:r>
            <a:r>
              <a:rPr lang="en-US" b="0" i="0" dirty="0">
                <a:effectLst/>
                <a:latin typeface="Inter"/>
              </a:rPr>
              <a:t> Computers can store vast amounts of data in secondary storage devices like hard disks and SSDs.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Automation:</a:t>
            </a:r>
            <a:r>
              <a:rPr lang="en-US" b="0" i="0" dirty="0">
                <a:effectLst/>
                <a:latin typeface="Inter"/>
              </a:rPr>
              <a:t> Once programmed, computers can perform tasks automatically without human intervention.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Versatility:</a:t>
            </a:r>
            <a:r>
              <a:rPr lang="en-US" b="0" i="0" dirty="0">
                <a:effectLst/>
                <a:latin typeface="Inter"/>
              </a:rPr>
              <a:t> They can perform a wide range of tasks, from simple calculations to complex simulations.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04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A2702-B608-07AA-CD8C-03FAEE5B3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Inter"/>
              </a:rPr>
              <a:t>Types of Computers</a:t>
            </a:r>
            <a:br>
              <a:rPr lang="en-US" b="1" i="0" dirty="0">
                <a:solidFill>
                  <a:srgbClr val="F8FAFF"/>
                </a:solidFill>
                <a:effectLst/>
                <a:latin typeface="Inter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C9BDA-AB54-555A-EB1C-8B2FC9015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906" y="1963025"/>
            <a:ext cx="10544961" cy="3959603"/>
          </a:xfrm>
        </p:spPr>
        <p:txBody>
          <a:bodyPr>
            <a:noAutofit/>
          </a:bodyPr>
          <a:lstStyle/>
          <a:p>
            <a:pPr algn="l">
              <a:spcAft>
                <a:spcPts val="300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Supercomputers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sz="2000" b="0" i="0" dirty="0">
                <a:effectLst/>
                <a:latin typeface="Inter"/>
              </a:rPr>
              <a:t>Used for complex calculations and simulations (e.g., weather forecasting, nuclear research).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sz="2000" b="0" i="0" dirty="0">
                <a:effectLst/>
                <a:latin typeface="Inter"/>
              </a:rPr>
              <a:t>Examples: IBM Summit, </a:t>
            </a:r>
            <a:r>
              <a:rPr lang="en-US" sz="2000" b="0" i="0" dirty="0" err="1">
                <a:effectLst/>
                <a:latin typeface="Inter"/>
              </a:rPr>
              <a:t>Fugaku</a:t>
            </a:r>
            <a:r>
              <a:rPr lang="en-US" sz="2000" b="0" i="0" dirty="0">
                <a:effectLst/>
                <a:latin typeface="Inter"/>
              </a:rPr>
              <a:t>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Mainframe Computers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sz="2000" b="0" i="0" dirty="0">
                <a:effectLst/>
                <a:latin typeface="Inter"/>
              </a:rPr>
              <a:t>Handle large-scale data processing for organizations (e.g., banks, airlines, governments).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sz="2000" b="0" i="0" dirty="0">
                <a:effectLst/>
                <a:latin typeface="Inter"/>
              </a:rPr>
              <a:t>Known for their reliability and ability to process millions of transactions daily.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Personal Computers (PCs)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sz="2000" b="0" i="0" dirty="0">
                <a:effectLst/>
                <a:latin typeface="Inter"/>
              </a:rPr>
              <a:t>Designed for individual use (e.g., desktops, laptops).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sz="2000" b="0" i="0" dirty="0">
                <a:effectLst/>
                <a:latin typeface="Inter"/>
              </a:rPr>
              <a:t>Used for work, education, entertainment, and more.</a:t>
            </a:r>
          </a:p>
        </p:txBody>
      </p:sp>
    </p:spTree>
    <p:extLst>
      <p:ext uri="{BB962C8B-B14F-4D97-AF65-F5344CB8AC3E}">
        <p14:creationId xmlns:p14="http://schemas.microsoft.com/office/powerpoint/2010/main" val="703230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CF598D-9028-0490-0C78-CD1B0DC6A8E1}"/>
              </a:ext>
            </a:extLst>
          </p:cNvPr>
          <p:cNvSpPr txBox="1"/>
          <p:nvPr/>
        </p:nvSpPr>
        <p:spPr>
          <a:xfrm>
            <a:off x="910189" y="1220703"/>
            <a:ext cx="10371622" cy="22082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sz="2000" b="1" i="0" dirty="0">
                <a:solidFill>
                  <a:srgbClr val="FF0000"/>
                </a:solidFill>
                <a:effectLst/>
                <a:latin typeface="Inter"/>
              </a:rPr>
              <a:t>4.</a:t>
            </a:r>
            <a:r>
              <a:rPr lang="en-US" sz="2000" b="1" i="0" dirty="0">
                <a:effectLst/>
                <a:latin typeface="Inter"/>
              </a:rPr>
              <a:t>Mobile Devices</a:t>
            </a:r>
            <a:r>
              <a:rPr lang="en-US" sz="2000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sz="2000" b="0" i="0" dirty="0">
                <a:effectLst/>
                <a:latin typeface="Inter"/>
              </a:rPr>
              <a:t>Smartphones, tablets, and wearables (e.g., smartwatches).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sz="2000" b="0" i="0" dirty="0">
                <a:effectLst/>
                <a:latin typeface="Inter"/>
              </a:rPr>
              <a:t>Portable and convenient for on-the-go use.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sz="2000" b="1" i="0" dirty="0">
                <a:solidFill>
                  <a:srgbClr val="FF0000"/>
                </a:solidFill>
                <a:effectLst/>
                <a:latin typeface="Inter"/>
              </a:rPr>
              <a:t>5.</a:t>
            </a:r>
            <a:r>
              <a:rPr lang="en-US" sz="2000" b="1" i="0" dirty="0">
                <a:effectLst/>
                <a:latin typeface="Inter"/>
              </a:rPr>
              <a:t>Embedded Systems</a:t>
            </a:r>
            <a:r>
              <a:rPr lang="en-US" sz="2000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sz="2000" b="0" i="0" dirty="0">
                <a:effectLst/>
                <a:latin typeface="Inter"/>
              </a:rPr>
              <a:t>Computers integrated into other devices (e.g., cars, home appliances, medical equipment).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sz="2000" b="0" i="0" dirty="0">
                <a:effectLst/>
                <a:latin typeface="Inter"/>
              </a:rPr>
              <a:t>Perform specific functions within larger systems.</a:t>
            </a:r>
          </a:p>
        </p:txBody>
      </p:sp>
    </p:spTree>
    <p:extLst>
      <p:ext uri="{BB962C8B-B14F-4D97-AF65-F5344CB8AC3E}">
        <p14:creationId xmlns:p14="http://schemas.microsoft.com/office/powerpoint/2010/main" val="3671281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0B66F-81C7-7286-6662-456883275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Inter"/>
              </a:rPr>
              <a:t>Components of a Computer</a:t>
            </a:r>
            <a:br>
              <a:rPr lang="en-US" b="1" i="0" dirty="0">
                <a:solidFill>
                  <a:srgbClr val="F8FAFF"/>
                </a:solidFill>
                <a:effectLst/>
                <a:latin typeface="Inter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EA64F-3C4B-E48B-394A-3CF98A5E7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400" b="1" i="0" dirty="0">
                <a:effectLst/>
                <a:latin typeface="Inter"/>
              </a:rPr>
              <a:t>Hardware</a:t>
            </a:r>
            <a:r>
              <a:rPr lang="en-US" sz="2400" b="0" i="0" dirty="0">
                <a:effectLst/>
                <a:latin typeface="Inter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CPU (Central Processing Unit)</a:t>
            </a:r>
            <a:r>
              <a:rPr lang="en-US" b="0" i="0" dirty="0">
                <a:effectLst/>
                <a:latin typeface="Inter"/>
              </a:rPr>
              <a:t>: The "brain" of the computer that performs calculations and executes instructions.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Memory (RAM)</a:t>
            </a:r>
            <a:r>
              <a:rPr lang="en-US" b="0" i="0" dirty="0">
                <a:effectLst/>
                <a:latin typeface="Inter"/>
              </a:rPr>
              <a:t>: Temporary storage for active programs and data.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Storage</a:t>
            </a:r>
            <a:r>
              <a:rPr lang="en-US" b="0" i="0" dirty="0">
                <a:effectLst/>
                <a:latin typeface="Inter"/>
              </a:rPr>
              <a:t>: Devices like hard drives and SSDs that store data permanently.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Input Devices</a:t>
            </a:r>
            <a:r>
              <a:rPr lang="en-US" b="0" i="0" dirty="0">
                <a:effectLst/>
                <a:latin typeface="Inter"/>
              </a:rPr>
              <a:t>: Tools like keyboards, mice, and scanners that allow users to interact with the computer.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Output Devices</a:t>
            </a:r>
            <a:r>
              <a:rPr lang="en-US" b="0" i="0" dirty="0">
                <a:effectLst/>
                <a:latin typeface="Inter"/>
              </a:rPr>
              <a:t>: Monitors, printers, and speakers that display or deliver results.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836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42EB8E-9FAC-A41A-4644-769D2939369E}"/>
              </a:ext>
            </a:extLst>
          </p:cNvPr>
          <p:cNvSpPr txBox="1"/>
          <p:nvPr/>
        </p:nvSpPr>
        <p:spPr>
          <a:xfrm>
            <a:off x="1384183" y="914400"/>
            <a:ext cx="9974511" cy="2008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i="0" dirty="0">
                <a:effectLst/>
                <a:latin typeface="Inter"/>
              </a:rPr>
              <a:t>Software</a:t>
            </a:r>
            <a:r>
              <a:rPr lang="en-US" sz="2400" b="0" i="0" dirty="0">
                <a:effectLst/>
                <a:latin typeface="Inter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Inter"/>
              </a:rPr>
              <a:t>Operating System (OS)</a:t>
            </a:r>
            <a:r>
              <a:rPr lang="en-US" sz="2000" b="0" i="0" dirty="0">
                <a:effectLst/>
                <a:latin typeface="Inter"/>
              </a:rPr>
              <a:t>: Manages hardware and software resources (e.g., Windows, macOS, Linux).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Inter"/>
              </a:rPr>
              <a:t>Applications</a:t>
            </a:r>
            <a:r>
              <a:rPr lang="en-US" sz="2000" b="0" i="0" dirty="0">
                <a:effectLst/>
                <a:latin typeface="Inter"/>
              </a:rPr>
              <a:t>: Programs designed for specific tasks (e.g., Microsoft Word, Google Chrome, Photoshop)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187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A37BB-747E-B51A-ECC4-EEE1BD223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Inter"/>
              </a:rPr>
              <a:t>Applications of Computers</a:t>
            </a:r>
            <a:br>
              <a:rPr lang="en-US" b="1" i="0" dirty="0">
                <a:solidFill>
                  <a:srgbClr val="F8FAFF"/>
                </a:solidFill>
                <a:effectLst/>
                <a:latin typeface="Inter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D1C01-4017-B8B8-022E-16A4D476D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i="0" dirty="0">
                <a:effectLst/>
                <a:latin typeface="Inter"/>
              </a:rPr>
              <a:t>Education</a:t>
            </a:r>
            <a:r>
              <a:rPr lang="en-US" sz="2400" b="0" i="0" dirty="0">
                <a:effectLst/>
                <a:latin typeface="Inter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Online learning platforms (e.g., Coursera, Khan Academy).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Research and access to digital libraries.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Virtual classrooms and video lectures.</a:t>
            </a:r>
          </a:p>
          <a:p>
            <a:pPr marL="0" indent="0" algn="l">
              <a:buNone/>
            </a:pPr>
            <a:r>
              <a:rPr lang="en-US" sz="2400" b="1" i="0" dirty="0">
                <a:effectLst/>
                <a:latin typeface="Inter"/>
              </a:rPr>
              <a:t>Business: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latin typeface="Inter"/>
              </a:rPr>
              <a:t>Accounting </a:t>
            </a:r>
            <a:r>
              <a:rPr lang="en-US" b="0" i="0" dirty="0">
                <a:effectLst/>
                <a:latin typeface="Inter"/>
              </a:rPr>
              <a:t>and payroll management.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Inventory tracking and supply chain management.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Customer relationship management (CRM) systems.</a:t>
            </a:r>
          </a:p>
          <a:p>
            <a:pPr marL="0" indent="0" algn="l">
              <a:spcBef>
                <a:spcPts val="300"/>
              </a:spcBef>
              <a:buNone/>
            </a:pPr>
            <a:endParaRPr lang="en-US" b="0" i="0" dirty="0">
              <a:effectLst/>
              <a:latin typeface="Inter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519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2D8B87-C668-DEC4-B910-F4A3842C58FE}"/>
              </a:ext>
            </a:extLst>
          </p:cNvPr>
          <p:cNvSpPr txBox="1"/>
          <p:nvPr/>
        </p:nvSpPr>
        <p:spPr>
          <a:xfrm>
            <a:off x="1740310" y="505122"/>
            <a:ext cx="7393947" cy="584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i="0" dirty="0">
                <a:effectLst/>
                <a:latin typeface="Inter"/>
              </a:rPr>
              <a:t>Healthcare</a:t>
            </a:r>
            <a:r>
              <a:rPr lang="en-US" sz="2400" b="0" i="0" dirty="0">
                <a:effectLst/>
                <a:latin typeface="Inter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Inter"/>
              </a:rPr>
              <a:t>Electronic health records (EHRs) for patient data management.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Inter"/>
              </a:rPr>
              <a:t>Medical imaging and diagnostics (e.g., MRI, X-rays).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Inter"/>
              </a:rPr>
              <a:t>Telemedicine for remote consultations.</a:t>
            </a:r>
          </a:p>
          <a:p>
            <a:pPr algn="l"/>
            <a:r>
              <a:rPr lang="en-US" sz="2400" b="1" i="0" dirty="0">
                <a:effectLst/>
                <a:latin typeface="Inter"/>
              </a:rPr>
              <a:t>Entertainment</a:t>
            </a:r>
            <a:r>
              <a:rPr lang="en-US" sz="2400" b="0" i="0" dirty="0">
                <a:effectLst/>
                <a:latin typeface="Inter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Inter"/>
              </a:rPr>
              <a:t>Gaming (e.g., PC games, consoles).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Inter"/>
              </a:rPr>
              <a:t>Streaming services (e.g., Netflix, Spotify).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Inter"/>
              </a:rPr>
              <a:t>Digital art and animation.</a:t>
            </a:r>
          </a:p>
          <a:p>
            <a:pPr algn="l"/>
            <a:r>
              <a:rPr lang="en-US" sz="2400" b="1" i="0" dirty="0">
                <a:effectLst/>
                <a:latin typeface="Inter"/>
              </a:rPr>
              <a:t>Communication</a:t>
            </a:r>
            <a:r>
              <a:rPr lang="en-US" sz="2400" b="0" i="0" dirty="0">
                <a:effectLst/>
                <a:latin typeface="Inter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Inter"/>
              </a:rPr>
              <a:t>Email, social media, and instant messaging.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Inter"/>
              </a:rPr>
              <a:t>Video conferencing tools (e.g., Zoom, Microsoft Teams).</a:t>
            </a:r>
          </a:p>
          <a:p>
            <a:pPr algn="l"/>
            <a:r>
              <a:rPr lang="en-US" sz="2400" b="1" i="0" dirty="0">
                <a:effectLst/>
                <a:latin typeface="Inter"/>
              </a:rPr>
              <a:t>Science and Research</a:t>
            </a:r>
            <a:r>
              <a:rPr lang="en-US" sz="2400" b="0" i="0" dirty="0">
                <a:effectLst/>
                <a:latin typeface="Inter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Inter"/>
              </a:rPr>
              <a:t>Data analysis and simulations.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Inter"/>
              </a:rPr>
              <a:t>Modeling complex systems (e.g., climate change, space exploration).</a:t>
            </a:r>
          </a:p>
          <a:p>
            <a:pPr algn="l">
              <a:spcBef>
                <a:spcPts val="300"/>
              </a:spcBef>
            </a:pPr>
            <a:endParaRPr lang="en-US" sz="2000" b="0" i="0" dirty="0">
              <a:effectLst/>
              <a:latin typeface="Inter"/>
            </a:endParaRPr>
          </a:p>
          <a:p>
            <a:pPr algn="l">
              <a:spcBef>
                <a:spcPts val="300"/>
              </a:spcBef>
            </a:pPr>
            <a:endParaRPr lang="en-US" sz="2000" b="0" i="0" dirty="0">
              <a:effectLst/>
              <a:latin typeface="Inter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61837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76</TotalTime>
  <Words>603</Words>
  <Application>Microsoft Office PowerPoint</Application>
  <PresentationFormat>Widescreen</PresentationFormat>
  <Paragraphs>61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Gill Sans MT</vt:lpstr>
      <vt:lpstr>Inter</vt:lpstr>
      <vt:lpstr>Gallery</vt:lpstr>
      <vt:lpstr>introduction to computer and it's application</vt:lpstr>
      <vt:lpstr>Introduction to Computers </vt:lpstr>
      <vt:lpstr>Characteristics of Computers: </vt:lpstr>
      <vt:lpstr>Types of Computers </vt:lpstr>
      <vt:lpstr>PowerPoint Presentation</vt:lpstr>
      <vt:lpstr>Components of a Computer </vt:lpstr>
      <vt:lpstr>PowerPoint Presentation</vt:lpstr>
      <vt:lpstr>Applications of Computers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Gautam</dc:creator>
  <cp:lastModifiedBy>Gaurav Gautam</cp:lastModifiedBy>
  <cp:revision>6</cp:revision>
  <cp:lastPrinted>2025-02-16T04:51:53Z</cp:lastPrinted>
  <dcterms:created xsi:type="dcterms:W3CDTF">2025-02-08T01:20:14Z</dcterms:created>
  <dcterms:modified xsi:type="dcterms:W3CDTF">2025-02-16T04:51:57Z</dcterms:modified>
</cp:coreProperties>
</file>