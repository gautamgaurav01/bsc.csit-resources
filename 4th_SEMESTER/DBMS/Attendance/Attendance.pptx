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7" r:id="rId1"/>
  </p:sldMasterIdLst>
  <p:notesMasterIdLst>
    <p:notesMasterId r:id="rId12"/>
  </p:notesMasterIdLst>
  <p:sldIdLst>
    <p:sldId id="256" r:id="rId2"/>
    <p:sldId id="257" r:id="rId3"/>
    <p:sldId id="277" r:id="rId4"/>
    <p:sldId id="278" r:id="rId5"/>
    <p:sldId id="279" r:id="rId6"/>
    <p:sldId id="262" r:id="rId7"/>
    <p:sldId id="263" r:id="rId8"/>
    <p:sldId id="282" r:id="rId9"/>
    <p:sldId id="265" r:id="rId10"/>
    <p:sldId id="283" r:id="rId11"/>
  </p:sldIdLst>
  <p:sldSz cx="9144000" cy="5143500" type="screen16x9"/>
  <p:notesSz cx="5143500" cy="9144000"/>
  <p:embeddedFontLst>
    <p:embeddedFont>
      <p:font typeface="Host Grotesk Medium" panose="020B0604020202020204" charset="0"/>
      <p:regular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Saira Medium" panose="020B060402020202020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98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63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9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02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93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048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7028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721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973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6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063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74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520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149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320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922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315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461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808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556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968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843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838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7140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78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9D82F-FE35-4C2F-BF74-7EC941CF96B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E56A-4A1B-4ECF-A334-E74CB9A4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8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6487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Attendance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107555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Database Management System Project — Nepathya College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76306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Department of Computer Science &amp; Information Technology 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376166"/>
            <a:ext cx="4722763" cy="602382"/>
          </a:xfrm>
          <a:prstGeom prst="roundRect">
            <a:avLst>
              <a:gd name="adj" fmla="val 21181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59122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816" y="3553346"/>
            <a:ext cx="4577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DBMS Project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3953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is an Attendance Management System?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938114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     A centralized relational database system to track and manage student attendance across all programs at  College.   Covers programs: BSc CSIT, BCA, BIM, BBS, BHM etc.     Core managed objects: Students, Teachers, Subjects, Semesters, and Class Sessions. 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04840"/>
            <a:ext cx="2290465" cy="1299046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081165" y="316088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DBMS Principles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81165" y="3467398"/>
            <a:ext cx="197837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 modeling, normalization (1NF–3NF), SQL-based implementation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3004840"/>
            <a:ext cx="2290539" cy="1299046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3388" y="316088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Goal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13388" y="3467398"/>
            <a:ext cx="19784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manual/semi-digital attendance with an efficient, accurate database solution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3090"/>
            <a:ext cx="509758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Problem We Are Solving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59595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2640" y="19061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Manual Errors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212628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registers are error-prone and time-consuming.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759595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07122" y="19061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 Central Access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212628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Admins, teachers, and students lack a unified attendance 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759595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1605" y="19061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Calculation Difficulties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212628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to compute attendance percentages for exam eligibility.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926110"/>
            <a:ext cx="4004965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640" y="3072631"/>
            <a:ext cx="18598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 Automated Reports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640" y="3379143"/>
            <a:ext cx="371192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subject/semester/course/teacher reports.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926110"/>
            <a:ext cx="4004965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89363" y="30726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 Audit Trail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9363" y="3379143"/>
            <a:ext cx="371192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Modifications lack traceability, risking data integrity.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3897734"/>
            <a:ext cx="8608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"These challenges demand a well-designed, normalized database solution."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8513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49225"/>
            <a:ext cx="3374975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Objectives of the System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56605" y="814015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4817" y="833103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59024" y="848990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Normalized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59024" y="1052140"/>
            <a:ext cx="6728296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relational DB in 1NF, 2NF, 3NF.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56605" y="1329854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4817" y="1348941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9024" y="1364828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Multiple Programs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59024" y="1567979"/>
            <a:ext cx="6728296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bachelor-level programs and semester structures.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56605" y="1845692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4817" y="1864779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59024" y="1880667"/>
            <a:ext cx="146618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Enrollment &amp; Assignment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9024" y="2083817"/>
            <a:ext cx="6728296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Enroll students and assign teachers to subjects.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56605" y="2361530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4817" y="238061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59024" y="2396505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Record Attendance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59024" y="2599655"/>
            <a:ext cx="6728296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class-wise attendance per student, subject, and session.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56605" y="2877369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4817" y="2896456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59024" y="2912343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Auto Calculation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59024" y="3115494"/>
            <a:ext cx="6728296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Auto-calc attendance percentage per student per subject.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56605" y="3393207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4817" y="341229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59024" y="3428181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Eligibility Rule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59024" y="3631332"/>
            <a:ext cx="6728296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75% minimum attendance for exam eligibility.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56605" y="3909045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94817" y="3928132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59024" y="3944020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59024" y="4147170"/>
            <a:ext cx="6728296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reports filtered by student, subject, teacher, or semester.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56605" y="4424883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4817" y="4443971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59024" y="4459858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Integrity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359024" y="4663008"/>
            <a:ext cx="6728296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primary keys, foreign keys, and constraints.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34696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9605"/>
            <a:ext cx="598378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 Entities &amp; Key Attributes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56109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2640" y="14026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Course (course_id)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709142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course_name, course_code,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duration_years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, description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256109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07122" y="1402631"/>
            <a:ext cx="19481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Semester (semester_id)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1709142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Course_id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(FK) 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semester_number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semester_name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, start_date, end_date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256109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1605" y="14026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Subject (subject_id)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1709142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Semester_id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(FK),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subject_code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subject_name,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credit_hours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total_classes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422624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640" y="25691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Teacher (teacher_id)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640" y="2875657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first_name, last_name, email, phone,  department,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hire_date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0601" y="2422624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7122" y="25691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Student (student_id)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07123" y="2790602"/>
            <a:ext cx="2471440" cy="656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Course_id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(FK),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first_name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last_name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email, phone,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symbol_number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enrollment_year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25083" y="2422624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1605" y="2569146"/>
            <a:ext cx="21504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Enrollment (enrollment_id)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71605" y="2875657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student_id (FK), semester_id (FK),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entrollment_date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 status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119" y="3589139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640" y="3735660"/>
            <a:ext cx="19340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Teacher_Subject (ts_id)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2640" y="4042172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teacher_id (FK), subject_id (FK), academic_year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0601" y="3589139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07122" y="3735660"/>
            <a:ext cx="21841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Class_Session (session_id)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07122" y="4042172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subject_id (FK), teacher_id (FK),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session_date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start_time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end_time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remarks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25083" y="3589139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71605" y="3735660"/>
            <a:ext cx="22889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Attendance (attendance_id)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171605" y="4042172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session_id (FK), student_id (FK), status (P/A/L), remarks, </a:t>
            </a:r>
            <a:r>
              <a:rPr lang="en-US" sz="11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recorded_at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55520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11348"/>
            <a:ext cx="615835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Entity-Relationship Diagram (Chen Notation)</a:t>
            </a:r>
            <a:endParaRPr lang="en-US" sz="21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E1576E-E7E2-8B33-5EAB-8183A573F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34" y="739302"/>
            <a:ext cx="8001000" cy="41857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74898"/>
            <a:ext cx="470244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750" b="1" dirty="0"/>
              <a:t>Relationships and Cardinalities</a:t>
            </a:r>
          </a:p>
        </p:txBody>
      </p:sp>
      <p:sp>
        <p:nvSpPr>
          <p:cNvPr id="3" name="Shape 1"/>
          <p:cNvSpPr/>
          <p:nvPr/>
        </p:nvSpPr>
        <p:spPr>
          <a:xfrm>
            <a:off x="449610" y="1009204"/>
            <a:ext cx="8244780" cy="3115047"/>
          </a:xfrm>
          <a:prstGeom prst="roundRect">
            <a:avLst>
              <a:gd name="adj" fmla="val 371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67073" y="4403675"/>
            <a:ext cx="81560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C28B387-E990-734D-8365-44CEF7403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550367"/>
              </p:ext>
            </p:extLst>
          </p:nvPr>
        </p:nvGraphicFramePr>
        <p:xfrm>
          <a:off x="449610" y="940526"/>
          <a:ext cx="7760397" cy="3828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7307">
                  <a:extLst>
                    <a:ext uri="{9D8B030D-6E8A-4147-A177-3AD203B41FA5}">
                      <a16:colId xmlns:a16="http://schemas.microsoft.com/office/drawing/2014/main" val="3786300410"/>
                    </a:ext>
                  </a:extLst>
                </a:gridCol>
                <a:gridCol w="1243653">
                  <a:extLst>
                    <a:ext uri="{9D8B030D-6E8A-4147-A177-3AD203B41FA5}">
                      <a16:colId xmlns:a16="http://schemas.microsoft.com/office/drawing/2014/main" val="1863036827"/>
                    </a:ext>
                  </a:extLst>
                </a:gridCol>
                <a:gridCol w="4029437">
                  <a:extLst>
                    <a:ext uri="{9D8B030D-6E8A-4147-A177-3AD203B41FA5}">
                      <a16:colId xmlns:a16="http://schemas.microsoft.com/office/drawing/2014/main" val="467525267"/>
                    </a:ext>
                  </a:extLst>
                </a:gridCol>
              </a:tblGrid>
              <a:tr h="34179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Relationship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 dirty="0">
                          <a:effectLst/>
                        </a:rPr>
                        <a:t>Cardinality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651171056"/>
                  </a:ext>
                </a:extLst>
              </a:tr>
              <a:tr h="34179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 dirty="0">
                          <a:effectLst/>
                        </a:rPr>
                        <a:t>Course → Semester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1 : M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One course has many semesters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88325063"/>
                  </a:ext>
                </a:extLst>
              </a:tr>
              <a:tr h="34179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Semester → Subject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1 : M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One semester has many subjects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85998864"/>
                  </a:ext>
                </a:extLst>
              </a:tr>
              <a:tr h="34179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Course → Student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1 : M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One course enrolls many students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212180276"/>
                  </a:ext>
                </a:extLst>
              </a:tr>
              <a:tr h="5468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Student ↔ Semester (via Enrollment)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M : N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Students enroll in multiple semesters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55291872"/>
                  </a:ext>
                </a:extLst>
              </a:tr>
              <a:tr h="5468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Teacher ↔ Subject (via Teacher_Subject)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M : N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Teachers teach multiple subjects; subjects have multiple teachers over time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11071730"/>
                  </a:ext>
                </a:extLst>
              </a:tr>
              <a:tr h="34179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Subject → Class_Session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1 : M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One subject has many class sessions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993974936"/>
                  </a:ext>
                </a:extLst>
              </a:tr>
              <a:tr h="34179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Teacher → Class_Session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1 : M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One teacher conducts many sessions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76008166"/>
                  </a:ext>
                </a:extLst>
              </a:tr>
              <a:tr h="34179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Class_Session → Attendance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1 : M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One session has attendance for many students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944392941"/>
                  </a:ext>
                </a:extLst>
              </a:tr>
              <a:tr h="34179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Student → Attendance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1 : M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 dirty="0">
                          <a:effectLst/>
                        </a:rPr>
                        <a:t>One student has many attendance records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0161659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001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Benefits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66515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7665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Accuracy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073027"/>
            <a:ext cx="3455715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Eliminates manual errors in attendance recording.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6651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17665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Efficiency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2092" y="2073027"/>
            <a:ext cx="345578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Bulk attendance entry per class session in seconds.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69146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25691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Auto Reports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2875657"/>
            <a:ext cx="3455715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attendance percentage per student per subject.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569146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25691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Exam Eligibility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92092" y="2875657"/>
            <a:ext cx="345578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75% threshold check for exam eligibility.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371776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7658" y="33717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Integrity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027658" y="3678287"/>
            <a:ext cx="3455715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FK constraints and UNIQUE rules prevent inconsistencies.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371776"/>
            <a:ext cx="354360" cy="354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92092" y="33717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92092" y="3678287"/>
            <a:ext cx="3455789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multiple programs, semesters, and campuses.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132421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6038"/>
            <a:ext cx="61018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Next Steps &amp; Implementation Plan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7254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394445"/>
            <a:ext cx="2622724" cy="1905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5033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809899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Finalize ER model, constraints, and normalization details (1–2 weeks)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17254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394445"/>
            <a:ext cx="2622724" cy="1905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60601" y="15033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Implement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1809899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Create schema in MySQL/MariaDB, define FKs/UNIQUE/ENUMs, write seed data (2–3 weeks)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17254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394445"/>
            <a:ext cx="2622724" cy="1905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25083" y="15033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Develop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1809899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Build web UI for Admin/Teacher/Student flows; bulk attendance and reporting modules (4–6 weeks)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273836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2960266"/>
            <a:ext cx="4004965" cy="1905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6119" y="30692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Test &amp; Deploy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375720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Unit/integration tests, user acceptance testing, deploy to college server with backup strategy (2 weeks)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273836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2960266"/>
            <a:ext cx="4004965" cy="1905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42842" y="30692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Train &amp; Maintain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375720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Faculty training sessions, documentation, and a maintenance schedule for data audits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56159-CE90-620E-6BF0-9991A557E8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802676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</TotalTime>
  <Words>841</Words>
  <Application>Microsoft Office PowerPoint</Application>
  <PresentationFormat>On-screen Show (16:9)</PresentationFormat>
  <Paragraphs>137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Saira Light</vt:lpstr>
      <vt:lpstr>Host Grotesk Medium</vt:lpstr>
      <vt:lpstr>Saira Medium</vt:lpstr>
      <vt:lpstr>Calibri</vt:lpstr>
      <vt:lpstr>Roboto</vt:lpstr>
      <vt:lpstr>Arial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Gaurav Gautam</dc:creator>
  <cp:lastModifiedBy>Gaurav Gautam</cp:lastModifiedBy>
  <cp:revision>4</cp:revision>
  <dcterms:created xsi:type="dcterms:W3CDTF">2026-06-01T08:24:10Z</dcterms:created>
  <dcterms:modified xsi:type="dcterms:W3CDTF">2026-06-02T01:56:51Z</dcterms:modified>
</cp:coreProperties>
</file>